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FA577D-F3CD-4DD6-8B3A-09F1FBECCA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E31AA9B-A0AE-453D-8332-F39DD4896F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57BB08-C6D2-4E64-AF32-C82C218538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40A9C6-F7A9-4508-9602-1A983EFCF14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A7274F-F10B-4DBC-B294-50FC1FDFB1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23D37C1-B2F4-46EB-AB28-12D928F57F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8B16938-5099-4AC0-A168-3DA73F619C3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5CFB87-8B5E-472C-B0D7-B7496AB10B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F3B937-3CE8-48AE-8EE4-B81EEC6ED8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C4EADF-8E11-43C6-A2F9-CA40DA4FAA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C0E1F67-B0F6-4E13-91A5-B00A84506E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val 1"/>
          <p:cNvSpPr/>
          <p:nvPr/>
        </p:nvSpPr>
        <p:spPr>
          <a:xfrm>
            <a:off x="-1828800" y="-1828800"/>
            <a:ext cx="5486040" cy="5486040"/>
          </a:xfrm>
          <a:prstGeom prst="ellipse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1066680" y="2011680"/>
            <a:ext cx="10058040" cy="22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1400"/>
              </a:spcAft>
            </a:pPr>
            <a:r>
              <a:rPr lang="en-US" sz="3800" b="1" u="none" strike="noStrike">
                <a:solidFill>
                  <a:srgbClr val="14B8A6"/>
                </a:solidFill>
                <a:effectLst/>
                <a:uFillTx/>
                <a:latin typeface="Georgia"/>
              </a:rPr>
              <a:t>The Architect's Handbook of Regular </a:t>
            </a:r>
            <a:r>
              <a:rPr lang="en-US" sz="3800" b="1" u="none" strike="noStrike">
                <a:solidFill>
                  <a:srgbClr val="14B8A6"/>
                </a:solidFill>
                <a:effectLst/>
                <a:uFillTx/>
                <a:latin typeface="Georgia"/>
              </a:rPr>
              <a:t>Expressions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A Practical Guide to Patterns, Quantifiers, and Character Classes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                                            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                                                                                  </a:t>
            </a: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Presented by  Debottam Kar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4724280" y="4754880"/>
            <a:ext cx="2742840" cy="378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914400" y="5669280"/>
            <a:ext cx="10362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Generated by Gemini Notebook • Based on Notebook Sources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457200" y="274320"/>
            <a:ext cx="11277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Georgia"/>
              </a:rPr>
              <a:t>Shorthand codes replace long ranges to simplify character class definitions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2"/>
          <p:cNvSpPr/>
          <p:nvPr/>
        </p:nvSpPr>
        <p:spPr>
          <a:xfrm>
            <a:off x="457200" y="1417320"/>
            <a:ext cx="11277000" cy="3132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3320" rIns="90000" bIns="-13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Rounded Rectangle 3"/>
          <p:cNvSpPr/>
          <p:nvPr/>
        </p:nvSpPr>
        <p:spPr>
          <a:xfrm>
            <a:off x="457200" y="1783080"/>
            <a:ext cx="5303160" cy="43887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14B8A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228600" anchor="ctr">
            <a:noAutofit/>
          </a:bodyPr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14B8A6"/>
                </a:solidFill>
                <a:effectLst/>
                <a:uFillTx/>
                <a:latin typeface="Georgia"/>
              </a:rPr>
              <a:t>Character Classes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Verdana"/>
              </a:rPr>
              <a:t>Character classes match specific sets of characters in a string. Combining them allows customized patterns.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  [a-z] 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    → Matches any lowercase letter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  [A-Z] 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    → Matches any uppercase letter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  [0-9] 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    → Matches any single digit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  [a-zA-Z0-9] 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    → Matches any alphanumeric character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Rounded Rectangle 4"/>
          <p:cNvSpPr/>
          <p:nvPr/>
        </p:nvSpPr>
        <p:spPr>
          <a:xfrm>
            <a:off x="6400800" y="1783080"/>
            <a:ext cx="5303160" cy="43887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14B8A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228600" anchor="ctr">
            <a:noAutofit/>
          </a:bodyPr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14B8A6"/>
                </a:solidFill>
                <a:effectLst/>
                <a:uFillTx/>
                <a:latin typeface="Georgia"/>
              </a:rPr>
              <a:t>Shorthand Characters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Verdana"/>
              </a:rPr>
              <a:t>Shorthands represent common character classes, keeping expressions concise and readable.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  \d 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    → Matches any digit (equivalent to [0-9])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  \w 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    → Matches any word character (equivalent to [a-zA-Z0-9_])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  \s 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    → Matches any whitespace (spaces, tabs, breaks)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  . 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    → Matches any character except a newline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457200" y="274320"/>
            <a:ext cx="11277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Georgia"/>
              </a:rPr>
              <a:t>Five distinct quantifiers control pattern count limits precisely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2"/>
          <p:cNvSpPr/>
          <p:nvPr/>
        </p:nvSpPr>
        <p:spPr>
          <a:xfrm>
            <a:off x="457200" y="1417320"/>
            <a:ext cx="11277000" cy="3132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3320" rIns="90000" bIns="-13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Rounded Rectangle 3"/>
          <p:cNvSpPr/>
          <p:nvPr/>
        </p:nvSpPr>
        <p:spPr>
          <a:xfrm>
            <a:off x="457200" y="1783080"/>
            <a:ext cx="3474360" cy="19198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14B8A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137160" rIns="137160" bIns="137160" anchor="ctr">
            <a:no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{n}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Georgia"/>
              </a:rPr>
              <a:t>Exact Occurrences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F8FAFC"/>
                </a:solidFill>
                <a:effectLst/>
                <a:uFillTx/>
                <a:latin typeface="Verdana"/>
              </a:rPr>
              <a:t>Matches exactly 'n' occurrences.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Example: a{3} matches 'aaa' but not 'aa'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4"/>
          <p:cNvSpPr/>
          <p:nvPr/>
        </p:nvSpPr>
        <p:spPr>
          <a:xfrm>
            <a:off x="4297680" y="1783080"/>
            <a:ext cx="3474360" cy="19198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14B8A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137160" rIns="137160" bIns="137160" anchor="ctr">
            <a:no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{n,}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Georgia"/>
              </a:rPr>
              <a:t>Minimum Occurrences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F8FAFC"/>
                </a:solidFill>
                <a:effectLst/>
                <a:uFillTx/>
                <a:latin typeface="Verdana"/>
              </a:rPr>
              <a:t>Matches at least 'n' occurrences with no limit.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Example: a{2,} matches 'aa', 'aaa', etc.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5"/>
          <p:cNvSpPr/>
          <p:nvPr/>
        </p:nvSpPr>
        <p:spPr>
          <a:xfrm>
            <a:off x="8138160" y="1783080"/>
            <a:ext cx="3474360" cy="19198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14B8A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137160" rIns="137160" bIns="137160" anchor="ctr">
            <a:no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{,m}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Georgia"/>
              </a:rPr>
              <a:t>Maximum Occurrences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F8FAFC"/>
                </a:solidFill>
                <a:effectLst/>
                <a:uFillTx/>
                <a:latin typeface="Verdana"/>
              </a:rPr>
              <a:t>Matches up to 'm' occurrences.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Example: a{,3} matches '', 'a', 'aa', 'aaa'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6"/>
          <p:cNvSpPr/>
          <p:nvPr/>
        </p:nvSpPr>
        <p:spPr>
          <a:xfrm>
            <a:off x="2377440" y="4069080"/>
            <a:ext cx="3474360" cy="19198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14B8A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137160" rIns="137160" bIns="137160" anchor="ctr">
            <a:no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{n,m}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Georgia"/>
              </a:rPr>
              <a:t>Range Bounds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F8FAFC"/>
                </a:solidFill>
                <a:effectLst/>
                <a:uFillTx/>
                <a:latin typeface="Verdana"/>
              </a:rPr>
              <a:t>Matches between 'n' and 'm' occurrences.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Example: a{2,4} matches 'aa', 'aaa', 'aaaa'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7"/>
          <p:cNvSpPr/>
          <p:nvPr/>
        </p:nvSpPr>
        <p:spPr>
          <a:xfrm>
            <a:off x="6217920" y="4069080"/>
            <a:ext cx="3474360" cy="19198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14B8A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137160" rIns="137160" bIns="137160" anchor="ctr">
            <a:no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* and +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Georgia"/>
              </a:rPr>
              <a:t>Zero/One Or More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F8FAFC"/>
                </a:solidFill>
                <a:effectLst/>
                <a:uFillTx/>
                <a:latin typeface="Verdana"/>
              </a:rPr>
              <a:t>* matches zero or more; + matches one or more.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Example: a* matches ''; a+ matches 'a', 'aa'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457200" y="274320"/>
            <a:ext cx="11277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Georgia"/>
              </a:rPr>
              <a:t>Anchors and escape slashes enforce strict string boundary validations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2"/>
          <p:cNvSpPr/>
          <p:nvPr/>
        </p:nvSpPr>
        <p:spPr>
          <a:xfrm>
            <a:off x="457200" y="1417320"/>
            <a:ext cx="11277000" cy="3132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3320" rIns="90000" bIns="-13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ounded Rectangle 3"/>
          <p:cNvSpPr/>
          <p:nvPr/>
        </p:nvSpPr>
        <p:spPr>
          <a:xfrm>
            <a:off x="457200" y="1783080"/>
            <a:ext cx="3474360" cy="43887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14B8A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228600" anchor="ctr">
            <a:noAutofit/>
          </a:bodyPr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14B8A6"/>
                </a:solidFill>
                <a:effectLst/>
                <a:uFillTx/>
                <a:latin typeface="Georgia"/>
              </a:rPr>
              <a:t>1. Boundary Anchors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Verdana"/>
              </a:rPr>
              <a:t>Anchors pin the match to specific positions in the input string, rather than searching anywhere.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200" b="1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^ (Start Anchor)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  Matches the start of a string.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Verdana"/>
              </a:rPr>
              <a:t>Example: ^a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  Matches any string starting with 'a'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200" b="1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$ (End Anchor)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  Matches the end of a string.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Verdana"/>
              </a:rPr>
              <a:t>Example: a$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  Matches any string ending with 'a'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4"/>
          <p:cNvSpPr/>
          <p:nvPr/>
        </p:nvSpPr>
        <p:spPr>
          <a:xfrm>
            <a:off x="4297680" y="1783080"/>
            <a:ext cx="3474360" cy="43887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14B8A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228600" anchor="ctr">
            <a:noAutofit/>
          </a:bodyPr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14B8A6"/>
                </a:solidFill>
                <a:effectLst/>
                <a:uFillTx/>
                <a:latin typeface="Georgia"/>
              </a:rPr>
              <a:t>2. Negative Matchers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Verdana"/>
              </a:rPr>
              <a:t>Capitalized shorthand characters act as the inverse of their lowercase counterparts.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200" b="1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\D (Non-digit)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  Matches any character that is NOT a digit (equivalent to [^0-9]).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200" b="1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\W (Non-word)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  Matches any non-word character (equivalent to [^a-zA-Z0-9_]).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200" b="1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\S (Non-whitespace)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  Matches any character that is NOT spaces, tabs, or breaks.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5"/>
          <p:cNvSpPr/>
          <p:nvPr/>
        </p:nvSpPr>
        <p:spPr>
          <a:xfrm>
            <a:off x="8138160" y="1783080"/>
            <a:ext cx="3474360" cy="43887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14B8A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228600" anchor="ctr">
            <a:noAutofit/>
          </a:bodyPr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14B8A6"/>
                </a:solidFill>
                <a:effectLst/>
                <a:uFillTx/>
                <a:latin typeface="Georgia"/>
              </a:rPr>
              <a:t>3. Escaping Special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Verdana"/>
              </a:rPr>
              <a:t>Special characters carry functional meaning in regex. To match them literally, you must escape them.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Georgia"/>
              </a:rPr>
              <a:t>The Backslash (\)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  Acts as the escape trigger prefix.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Georgia"/>
              </a:rPr>
              <a:t>Matching Literal Dot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  A plain dot (.) matches any character except newline.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Georgia"/>
              </a:rPr>
              <a:t>Using \.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  Escapes the dot so it only matches a literal '.' character.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457200" y="274320"/>
            <a:ext cx="11277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Georgia"/>
              </a:rPr>
              <a:t>Three real-world patterns demonstrate complex validation architectures in action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2"/>
          <p:cNvSpPr/>
          <p:nvPr/>
        </p:nvSpPr>
        <p:spPr>
          <a:xfrm>
            <a:off x="457200" y="1417320"/>
            <a:ext cx="11277000" cy="31320"/>
          </a:xfrm>
          <a:prstGeom prst="rect">
            <a:avLst/>
          </a:prstGeom>
          <a:solidFill>
            <a:srgbClr val="14B8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3320" rIns="90000" bIns="-13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Rounded Rectangle 3"/>
          <p:cNvSpPr/>
          <p:nvPr/>
        </p:nvSpPr>
        <p:spPr>
          <a:xfrm>
            <a:off x="457200" y="1783080"/>
            <a:ext cx="3474360" cy="43887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14B8A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228600" anchor="ctr">
            <a:noAutofit/>
          </a:bodyPr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14B8A6"/>
                </a:solidFill>
                <a:effectLst/>
                <a:uFillTx/>
                <a:latin typeface="Georgia"/>
              </a:rPr>
              <a:t>Email Validation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0" u="none" strike="noStrike">
                <a:solidFill>
                  <a:srgbClr val="F8FAFC"/>
                </a:solidFill>
                <a:effectLst/>
                <a:uFillTx/>
                <a:latin typeface="Verdana"/>
              </a:rPr>
              <a:t>Matches valid email addresses using strict alphanumeric and symbol validation.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lang="en-US" sz="1100" b="1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^[a-zA-Z0-9._%+-]+@[a-zA-Z0-9.-]+\.[a-zA-Z]{2,}$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00" b="1" u="none" strike="noStrike">
                <a:solidFill>
                  <a:srgbClr val="14B8A6"/>
                </a:solidFill>
                <a:effectLst/>
                <a:uFillTx/>
                <a:latin typeface="Calibri"/>
              </a:rPr>
              <a:t>• ^ and $: </a:t>
            </a: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Start and end constraints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00" b="1" u="none" strike="noStrike">
                <a:solidFill>
                  <a:srgbClr val="14B8A6"/>
                </a:solidFill>
                <a:effectLst/>
                <a:uFillTx/>
                <a:latin typeface="Calibri"/>
              </a:rPr>
              <a:t>• [a-zA-Z0-9._%+-]+: </a:t>
            </a: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Username characters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00" b="1" u="none" strike="noStrike">
                <a:solidFill>
                  <a:srgbClr val="14B8A6"/>
                </a:solidFill>
                <a:effectLst/>
                <a:uFillTx/>
                <a:latin typeface="Calibri"/>
              </a:rPr>
              <a:t>• @[a-zA-Z0-9.-]+: </a:t>
            </a: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Domain name segments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00" b="1" u="none" strike="noStrike">
                <a:solidFill>
                  <a:srgbClr val="14B8A6"/>
                </a:solidFill>
                <a:effectLst/>
                <a:uFillTx/>
                <a:latin typeface="Calibri"/>
              </a:rPr>
              <a:t>• \.[a-zA-Z]{2,}: </a:t>
            </a: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TLD suffix of length &gt;= 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4"/>
          <p:cNvSpPr/>
          <p:nvPr/>
        </p:nvSpPr>
        <p:spPr>
          <a:xfrm>
            <a:off x="4297680" y="1783080"/>
            <a:ext cx="3474360" cy="43887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14B8A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228600" anchor="ctr">
            <a:noAutofit/>
          </a:bodyPr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14B8A6"/>
                </a:solidFill>
                <a:effectLst/>
                <a:uFillTx/>
                <a:latin typeface="Georgia"/>
              </a:rPr>
              <a:t>Indian Phone Numbers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0" u="none" strike="noStrike">
                <a:solidFill>
                  <a:srgbClr val="F8FAFC"/>
                </a:solidFill>
                <a:effectLst/>
                <a:uFillTx/>
                <a:latin typeface="Verdana"/>
              </a:rPr>
              <a:t>Validates phone numbers conforming to Indian telecom formatting standards.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lang="en-US" sz="1300" b="1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^\+91[6-9]{1}[0-9]{9}$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00" b="1" u="none" strike="noStrike">
                <a:solidFill>
                  <a:srgbClr val="14B8A6"/>
                </a:solidFill>
                <a:effectLst/>
                <a:uFillTx/>
                <a:latin typeface="Calibri"/>
              </a:rPr>
              <a:t>• ^\+91: </a:t>
            </a: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Escaped literal '+' and country code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00" b="1" u="none" strike="noStrike">
                <a:solidFill>
                  <a:srgbClr val="14B8A6"/>
                </a:solidFill>
                <a:effectLst/>
                <a:uFillTx/>
                <a:latin typeface="Calibri"/>
              </a:rPr>
              <a:t>• [6-9]{1}: </a:t>
            </a: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Starts with digit 6, 7, 8, or 9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00" b="1" u="none" strike="noStrike">
                <a:solidFill>
                  <a:srgbClr val="14B8A6"/>
                </a:solidFill>
                <a:effectLst/>
                <a:uFillTx/>
                <a:latin typeface="Calibri"/>
              </a:rPr>
              <a:t>• [0-9]{9}$: </a:t>
            </a: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Followed by exactly 9 digits to the end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5"/>
          <p:cNvSpPr/>
          <p:nvPr/>
        </p:nvSpPr>
        <p:spPr>
          <a:xfrm>
            <a:off x="8138160" y="1783080"/>
            <a:ext cx="3474360" cy="43887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14B8A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228600" anchor="ctr">
            <a:noAutofit/>
          </a:bodyPr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1" u="none" strike="noStrike">
                <a:solidFill>
                  <a:srgbClr val="14B8A6"/>
                </a:solidFill>
                <a:effectLst/>
                <a:uFillTx/>
                <a:latin typeface="Georgia"/>
              </a:rPr>
              <a:t>Date (YYYY-MM-DD)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0" u="none" strike="noStrike">
                <a:solidFill>
                  <a:srgbClr val="F8FAFC"/>
                </a:solidFill>
                <a:effectLst/>
                <a:uFillTx/>
                <a:latin typeface="Verdana"/>
              </a:rPr>
              <a:t>Strict format checking for standard ISO dates containing hyphens.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lang="en-US" sz="1300" b="1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^\d{4}-\d{2}-\d{2}$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00" b="1" u="none" strike="noStrike">
                <a:solidFill>
                  <a:srgbClr val="14B8A6"/>
                </a:solidFill>
                <a:effectLst/>
                <a:uFillTx/>
                <a:latin typeface="Calibri"/>
              </a:rPr>
              <a:t>• ^\d{4}: </a:t>
            </a: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Starts with exactly four digits (Year)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00" b="1" u="none" strike="noStrike">
                <a:solidFill>
                  <a:srgbClr val="14B8A6"/>
                </a:solidFill>
                <a:effectLst/>
                <a:uFillTx/>
                <a:latin typeface="Calibri"/>
              </a:rPr>
              <a:t>• -\d{2}: </a:t>
            </a: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Hyphen and exactly two digits (Month)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000" b="1" u="none" strike="noStrike">
                <a:solidFill>
                  <a:srgbClr val="14B8A6"/>
                </a:solidFill>
                <a:effectLst/>
                <a:uFillTx/>
                <a:latin typeface="Calibri"/>
              </a:rPr>
              <a:t>• -\d{2}$: </a:t>
            </a: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Hyphen and exactly two digits to end (Day)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LibreOffice/26.2.6.1$Linux_X86_64 LibreOffice_project/620$Build-1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2026-09-04T09:50:37Z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